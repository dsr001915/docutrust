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9476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pic>
        <p:nvPicPr>
          <p:cNvPr id="8" name="Image 0" descr="/home/claude/ppt/icons/shield_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594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E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DOCUTRUST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Self-Correcting RAG Platform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54864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 Q&amp;A that grades its own retrieval before it answers — </a:t>
            </a:r>
            <a:pPr indent="0" marL="0">
              <a:buNone/>
            </a:pPr>
            <a:r>
              <a:rPr lang="en-US" sz="1700" i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corrects itself when it's wrong.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 Singh Raghuvanshi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6126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Corrective RAG (CRAG)  ·  LangGraph  ·  FastAPI  ·  ChromaDB  ·  MongoDB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RAG can't tell when it's wrong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query, fetch the top-k chunks, stuff them into the prompt, generate. If retrieval misses, the model still answers fluently — just wrong. Retrieval failure and retrieval success look identical from the outside.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ppt/icons/search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7706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27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23160" y="3200400"/>
            <a:ext cx="320040" cy="0"/>
          </a:xfrm>
          <a:prstGeom prst="line">
            <a:avLst/>
          </a:prstGeom>
          <a:noFill/>
          <a:ln w="19050">
            <a:solidFill>
              <a:srgbClr val="6B6B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26060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home/claude/ppt/icons/database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27706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3227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top-k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617720" y="3200400"/>
            <a:ext cx="320040" cy="0"/>
          </a:xfrm>
          <a:prstGeom prst="line">
            <a:avLst/>
          </a:prstGeom>
          <a:noFill/>
          <a:ln w="19050">
            <a:solidFill>
              <a:srgbClr val="6B6B6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937760" y="26060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home/claude/ppt/icons/layers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77063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37760" y="3227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 prompt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812280" y="3200400"/>
            <a:ext cx="320040" cy="0"/>
          </a:xfrm>
          <a:prstGeom prst="line">
            <a:avLst/>
          </a:prstGeom>
          <a:noFill/>
          <a:ln w="19050">
            <a:solidFill>
              <a:srgbClr val="6B6B6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132320" y="26060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/home/claude/ppt/icons/brain_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0" y="277063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3227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006840" y="3200400"/>
            <a:ext cx="457200" cy="0"/>
          </a:xfrm>
          <a:prstGeom prst="line">
            <a:avLst/>
          </a:prstGeom>
          <a:noFill/>
          <a:ln w="19050">
            <a:solidFill>
              <a:srgbClr val="E2574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646920" y="246888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BEAE8"/>
          </a:solidFill>
          <a:ln/>
        </p:spPr>
      </p:sp>
      <p:pic>
        <p:nvPicPr>
          <p:cNvPr id="22" name="Image 4" descr="/home/claude/ppt/icons/warning_escalat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60604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332720" y="25603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answer.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source. No signal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went wrong.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4864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DocuTrust adds an explicit, scored checkpoint between retrieval and generation — instead of trusting the LLM's discretion.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Corrective RAG, as an explicit state machine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retrieval is scored by a cross-encoder, graded against tuned thresholds, and routed down one of three paths — built on LangGraph, not implicit chains.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46120" cy="2377440"/>
          </a:xfrm>
          <a:prstGeom prst="roundRect">
            <a:avLst>
              <a:gd name="adj" fmla="val 3846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651760"/>
            <a:ext cx="548640" cy="548640"/>
          </a:xfrm>
          <a:prstGeom prst="ellipse">
            <a:avLst/>
          </a:prstGeom>
          <a:solidFill>
            <a:srgbClr val="3DDC84">
              <a:alpha val="15000"/>
            </a:srgbClr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7" name="Image 0" descr="/home/claude/ppt/icons/check_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7889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strong. Answer directly, with citations.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331720"/>
            <a:ext cx="3246120" cy="2377440"/>
          </a:xfrm>
          <a:prstGeom prst="roundRect">
            <a:avLst>
              <a:gd name="adj" fmla="val 3846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651760"/>
            <a:ext cx="548640" cy="548640"/>
          </a:xfrm>
          <a:prstGeom prst="ellipse">
            <a:avLst/>
          </a:prstGeom>
          <a:solidFill>
            <a:srgbClr val="F2A93B">
              <a:alpha val="15000"/>
            </a:srgbClr>
          </a:solidFill>
          <a:ln w="15875">
            <a:solidFill>
              <a:srgbClr val="F2A93B"/>
            </a:solidFill>
            <a:prstDash val="solid"/>
          </a:ln>
        </p:spPr>
      </p:sp>
      <p:pic>
        <p:nvPicPr>
          <p:cNvPr id="12" name="Image 1" descr="/home/claude/ppt/icons/sync_correc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788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AMBIGUOUS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26280" y="3703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weak. Rewrite the query and retry — capped.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863840" y="2331720"/>
            <a:ext cx="3246120" cy="2377440"/>
          </a:xfrm>
          <a:prstGeom prst="roundRect">
            <a:avLst>
              <a:gd name="adj" fmla="val 3846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83880" y="2651760"/>
            <a:ext cx="548640" cy="548640"/>
          </a:xfrm>
          <a:prstGeom prst="ellipse">
            <a:avLst/>
          </a:prstGeom>
          <a:solidFill>
            <a:srgbClr val="E2574C">
              <a:alpha val="15000"/>
            </a:srgbClr>
          </a:solidFill>
          <a:ln w="15875">
            <a:solidFill>
              <a:srgbClr val="E2574C"/>
            </a:solidFill>
            <a:prstDash val="solid"/>
          </a:ln>
        </p:spPr>
      </p:sp>
      <p:pic>
        <p:nvPicPr>
          <p:cNvPr id="17" name="Image 2" descr="/home/claude/ppt/icons/globe_escal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889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INCORRECT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83880" y="3703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docs insufficient. Escalate to web fallback, disclosed.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by a cross-encoder score, not an LLM's self-judgment — continuous, thresholdable, reproducible.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CRAG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21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rerank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20116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2121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80360" y="2468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grade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1F4D3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correct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80360" y="329184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CEFD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8036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REWRITE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71800" y="37490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· capped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66360" y="329184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BEAE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34015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FALLBACK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57800" y="37490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· cap hit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66360" y="4370832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FBEAE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66360" y="4480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9A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57800" y="48280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kept chunks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417320" y="4160520"/>
            <a:ext cx="256032" cy="25603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462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89320" y="5212080"/>
            <a:ext cx="256032" cy="2560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5513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77440" y="2395728"/>
            <a:ext cx="411480" cy="0"/>
          </a:xfrm>
          <a:prstGeom prst="line">
            <a:avLst/>
          </a:prstGeom>
          <a:noFill/>
          <a:ln w="19050">
            <a:solidFill>
              <a:srgbClr val="6B6B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2788920"/>
            <a:ext cx="0" cy="502920"/>
          </a:xfrm>
          <a:prstGeom prst="line">
            <a:avLst/>
          </a:prstGeom>
          <a:noFill/>
          <a:ln w="19050">
            <a:solidFill>
              <a:srgbClr val="3DDC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2788920"/>
            <a:ext cx="0" cy="50292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2788920"/>
            <a:ext cx="0" cy="502920"/>
          </a:xfrm>
          <a:prstGeom prst="line">
            <a:avLst/>
          </a:prstGeom>
          <a:noFill/>
          <a:ln w="19050">
            <a:solidFill>
              <a:srgbClr val="E257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0488" y="4005072"/>
            <a:ext cx="0" cy="365760"/>
          </a:xfrm>
          <a:prstGeom prst="line">
            <a:avLst/>
          </a:prstGeom>
          <a:noFill/>
          <a:ln w="19050">
            <a:solidFill>
              <a:srgbClr val="E257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1965960"/>
            <a:ext cx="1691640" cy="1325880"/>
          </a:xfrm>
          <a:prstGeom prst="line">
            <a:avLst/>
          </a:prstGeom>
          <a:noFill/>
          <a:ln w="19050">
            <a:solidFill>
              <a:srgbClr val="F2A93B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011680" y="1719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— capped at MAX_CORRECTION_ITERATIONS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guarantee:  </a:t>
            </a:r>
            <a:pPr indent="0" marL="0">
              <a:buNone/>
            </a:pPr>
            <a:r>
              <a:rPr lang="en-US" sz="11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rewrite budget is exhausted, every path escalates to web fallback — no loop can run forever.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cross-encoder grades relevance — not an LLM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3DDC84">
              <a:alpha val="12000"/>
            </a:srgbClr>
          </a:solidFill>
          <a:ln/>
        </p:spPr>
      </p:sp>
      <p:pic>
        <p:nvPicPr>
          <p:cNvPr id="6" name="Image 0" descr="/home/claude/ppt/icons/chart_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thresholdable score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against RELEVANCE_THRESHOLD_CORRECT / _AMBIGUOUS. An LLM's yes/no is harder to calibrate and drifts across prompts and model versions.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69164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3DDC84">
              <a:alpha val="12000"/>
            </a:srgbClr>
          </a:solidFill>
          <a:ln/>
        </p:spPr>
      </p:sp>
      <p:pic>
        <p:nvPicPr>
          <p:cNvPr id="11" name="Image 1" descr="/home/claude/ppt/icons/sync_verif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08483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606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31089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query/chunk pair scores identically every run. An LLM judgment call can vary run to run.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rgbClr val="3DDC84">
              <a:alpha val="12000"/>
            </a:srgbClr>
          </a:solidFill>
          <a:ln/>
        </p:spPr>
      </p:sp>
      <p:pic>
        <p:nvPicPr>
          <p:cNvPr id="16" name="Image 2" descr="/home/claude/ppt/icons/rocket_verifi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08483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606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latency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0" y="31089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forward pass is far cheaper than another LLM round-trip — and this grading step runs on every query, not just the corrected ones.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0E1420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grade_relevance(score)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8680" y="4800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≥ 0.60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 ≤ score &lt; 0.60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&lt; 0.30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383280" y="4800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CORRECT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AMBIGUOUS  (rewrite + retry)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INCORRECT  (web fallback)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321040" y="5120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backend/reranker/cross_encoder.py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production-shaped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5" name="Image 0" descr="/home/claude/ppt/icons/graph_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9443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10128" y="173736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9" name="Image 1" descr="/home/claude/ppt/icons/brain_verif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9659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38728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Reranker v2-m3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38728" y="29443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grading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71616" y="173736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13" name="Image 2" descr="/home/claude/ppt/icons/database_verifi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9659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0216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0216" y="29443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833104" y="173736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17" name="Image 3" descr="/home/claude/ppt/icons/server_verifi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4" y="196596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61704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061704" y="29443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live streaming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370332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21" name="Image 4" descr="/home/claude/ppt/icons/layers_verifi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3192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4480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77240" y="49103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logs + metadata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310128" y="370332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25" name="Image 5" descr="/home/claude/ppt/icons/code_verifi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728" y="393192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538728" y="4480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Ollama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3538728" y="49103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LLM generation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071616" y="370332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29" name="Image 6" descr="/home/claude/ppt/icons/globe_verifi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216" y="3931920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00216" y="4480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300216" y="49103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 search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8833104" y="370332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33" name="Image 7" descr="/home/claude/ppt/icons/cogs_verifi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1704" y="3931920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61704" y="4480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9061704" y="49103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setup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agent correct itself, live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three-pane “case file” UI streamed over WebSocket — every node transition in the CRAG graph renders as a stamped ledger entry the instant it happens.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3931920"/>
          </a:xfrm>
          <a:prstGeom prst="roundRect">
            <a:avLst>
              <a:gd name="adj" fmla="val 1395"/>
            </a:avLst>
          </a:prstGeom>
          <a:solidFill>
            <a:srgbClr val="0E142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306324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1A223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corporate_policy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handbook.pdf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6324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LEDGER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3240" y="3081528"/>
            <a:ext cx="292608" cy="292608"/>
          </a:xfrm>
          <a:prstGeom prst="ellipse">
            <a:avLst/>
          </a:prstGeom>
          <a:solidFill>
            <a:srgbClr val="3DDC84">
              <a:alpha val="20000"/>
            </a:srgbClr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47288" y="3044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candidates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47288" y="32552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candidates → top 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63240" y="3648456"/>
            <a:ext cx="292608" cy="292608"/>
          </a:xfrm>
          <a:prstGeom prst="ellipse">
            <a:avLst/>
          </a:prstGeom>
          <a:solidFill>
            <a:srgbClr val="F2A93B">
              <a:alpha val="2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3611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relevance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47288" y="3822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AMBIGUOUS  (score 0.34)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63240" y="4215384"/>
            <a:ext cx="292608" cy="292608"/>
          </a:xfrm>
          <a:prstGeom prst="ellipse">
            <a:avLst/>
          </a:prstGeom>
          <a:solidFill>
            <a:srgbClr val="F2A93B">
              <a:alpha val="2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47288" y="4178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query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47288" y="4389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1 of 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63240" y="4782312"/>
            <a:ext cx="292608" cy="292608"/>
          </a:xfrm>
          <a:prstGeom prst="ellipse">
            <a:avLst/>
          </a:prstGeom>
          <a:solidFill>
            <a:srgbClr val="E2574C">
              <a:alpha val="20000"/>
            </a:srgbClr>
          </a:solidFill>
          <a:ln w="12700">
            <a:solidFill>
              <a:srgbClr val="E257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4773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47288" y="47457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to web search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47288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KB insufficient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0" y="3063240"/>
            <a:ext cx="32004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366760" y="320040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CEFD8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corrected · web-assisted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366760" y="3657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employees must use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company-issued laptops with full-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encryption enabled… [1]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RAG vs. CRAG, measured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hand-written questions against a sample policy handbook — 20 in-corpus, 5 deliberately out-of-corpus.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Correctly handled out-of-corpus questions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257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 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25146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F4D38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265176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5989320" y="3657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 has no mechanism to recognize bad retrieval — it presents whatever it finds, confidently, every time. CRAG's grading step catches this on every out-of-corpus question in this eval, either abstaining or disclosing a web-search fallback.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Faithfulness on in-corpus questions: 95% — both systems  ·  see docs/EVAL_RESULTS.md for full methodology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RIGOR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tests. A real bug-fix trail.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backend/tests/</a:t>
            </a:r>
            <a:endParaRPr lang="en-US" sz="1200" dirty="0"/>
          </a:p>
        </p:txBody>
      </p:sp>
      <p:pic>
        <p:nvPicPr>
          <p:cNvPr id="6" name="Image 0" descr="/home/claude/ppt/icons/check_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240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regression test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254203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Non-repetitive fixture catches overlap-duplication bugs without false positives from naturally repeating text.</a:t>
            </a:r>
            <a:endParaRPr lang="en-US" sz="1050" dirty="0"/>
          </a:p>
        </p:txBody>
      </p:sp>
      <p:pic>
        <p:nvPicPr>
          <p:cNvPr id="9" name="Image 1" descr="/home/claude/ppt/icons/check_verif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2900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383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boundary tests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34440" y="368503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exact threshold behavior (≥ vs &gt;) so off-by-one errors in CRAG routing get caught immediately.</a:t>
            </a:r>
            <a:endParaRPr lang="en-US" sz="1050" dirty="0"/>
          </a:p>
        </p:txBody>
      </p:sp>
      <p:pic>
        <p:nvPicPr>
          <p:cNvPr id="12" name="Image 2" descr="/home/claude/ppt/icons/check_verifi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7200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526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guarantee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34440" y="482803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test proves the correction loop can never exceed MAX_CORRECTION_ITERATIONS — not just a comment.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080760" y="1600200"/>
            <a:ext cx="5559552" cy="4160520"/>
          </a:xfrm>
          <a:prstGeom prst="roundRect">
            <a:avLst>
              <a:gd name="adj" fmla="val 2198"/>
            </a:avLst>
          </a:prstGeom>
          <a:solidFill>
            <a:srgbClr val="0E1420"/>
          </a:solidFill>
          <a:ln/>
        </p:spPr>
      </p:sp>
      <p:sp>
        <p:nvSpPr>
          <p:cNvPr id="16" name="Text 11"/>
          <p:cNvSpPr/>
          <p:nvPr/>
        </p:nvSpPr>
        <p:spPr>
          <a:xfrm>
            <a:off x="640080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the eval itself caught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0" y="22402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abstention check matched generic negation words (“not”, “prohibited”) anywhere in the answer — so an irrelevant extracted chunk could falsely score as “correctly declining to answer.”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0" y="3154680"/>
            <a:ext cx="4937760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0" y="3337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 explicit abstention-phrase detection, a naive-RAG confidence-score removal, and a documented empirical baseline measurement — not a quick patch.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in an interview: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0" y="4544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debugging judgment is as much the deliverable as the green checkmark.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interface, three providers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Embedder, reranker, LLM, and web search are each written against a shared interface — swap providers via one config setting, no code changes.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492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 (default — zero setup)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3DDC84">
              <a:alpha val="12000"/>
            </a:srgbClr>
          </a:solidFill>
          <a:ln/>
        </p:spPr>
      </p:sp>
      <p:pic>
        <p:nvPicPr>
          <p:cNvPr id="11" name="Image 0" descr="/home/claude/ppt/icons/search_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79806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0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74920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+ trigram bag-of-words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21040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BAAI/bge-small-en-v1.5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3DDC84">
              <a:alpha val="12000"/>
            </a:srgbClr>
          </a:solidFill>
          <a:ln/>
        </p:spPr>
      </p:sp>
      <p:pic>
        <p:nvPicPr>
          <p:cNvPr id="16" name="Image 1" descr="/home/claude/ppt/icons/balance_verif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6674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28800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074920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Lexical overlap scorer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321040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BAAI/bge-reranker-v2-m3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429768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3DDC84">
              <a:alpha val="12000"/>
            </a:srgbClr>
          </a:solidFill>
          <a:ln/>
        </p:spPr>
      </p:sp>
      <p:pic>
        <p:nvPicPr>
          <p:cNvPr id="22" name="Image 2" descr="/home/claude/ppt/icons/brain_verifi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3542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28800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074920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Extractive sentence selection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321040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API / Ollama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3DDC84">
              <a:alpha val="12000"/>
            </a:srgbClr>
          </a:solidFill>
          <a:ln/>
        </p:spPr>
      </p:sp>
      <p:pic>
        <p:nvPicPr>
          <p:cNvPr id="27" name="Image 3" descr="/home/claude/ppt/icons/globe_verifi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54041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828800" y="5330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5074920" y="5330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Labeled placeholder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321040" y="5330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Tavily API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centrally in backend/config.py — not scattered os.getenv() calls.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add with more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3DDC84">
              <a:alpha val="15000"/>
            </a:srgbClr>
          </a:solidFill>
          <a:ln/>
        </p:spPr>
      </p:sp>
      <p:pic>
        <p:nvPicPr>
          <p:cNvPr id="6" name="Image 0" descr="/home/claude/ppt/icons/shield_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Re-grade web fallback results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they're trusted once retrieved — a second grading pass would catch low-quality search results too.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3DDC84">
              <a:alpha val="15000"/>
            </a:srgbClr>
          </a:solidFill>
          <a:ln/>
        </p:spPr>
      </p:sp>
      <p:pic>
        <p:nvPicPr>
          <p:cNvPr id="11" name="Image 1" descr="/home/claude/ppt/icons/layers_verif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756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476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(BM25 + vector)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0" y="25603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exact keywords and jargon the embedding model under-weights.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3DDC84">
              <a:alpha val="15000"/>
            </a:srgbClr>
          </a:solidFill>
          <a:ln/>
        </p:spPr>
      </p:sp>
      <p:pic>
        <p:nvPicPr>
          <p:cNvPr id="16" name="Image 2" descr="/home/claude/ppt/icons/chart_verifi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1788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507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RAGAS-based eval scoring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6634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substring-match proxy with LLM-as-judge for subtler hallucination detection.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A2230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069080"/>
            <a:ext cx="457200" cy="457200"/>
          </a:xfrm>
          <a:prstGeom prst="ellipse">
            <a:avLst/>
          </a:prstGeom>
          <a:solidFill>
            <a:srgbClr val="3DDC84">
              <a:alpha val="15000"/>
            </a:srgbClr>
          </a:solidFill>
          <a:ln/>
        </p:spPr>
      </p:sp>
      <p:pic>
        <p:nvPicPr>
          <p:cNvPr id="21" name="Image 3" descr="/home/claude/ppt/icons/database_verifi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1788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507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corpus testing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92240" y="46634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eval is single-document by design — relevance grading behaves differently across overlapping documents.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9476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pic>
        <p:nvPicPr>
          <p:cNvPr id="8" name="Image 0" descr="/home/claude/ppt/icons/shield_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E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DOCUTRUST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54864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the architecture, the eval methodology, or the build process — happy to dig in.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 Singh Raghuvanshi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5715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dsraghuvanshi2002@gmail.com   ·   +91 9140405360   ·   github.com/DSR001915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DocuTrust — Self-Correcting Enterprise RAG Platform</dc:title>
  <dc:subject>PptxGenJS Presentation</dc:subject>
  <dc:creator>Devansh Singh Raghuvanshi</dc:creator>
  <cp:lastModifiedBy>Devansh Singh Raghuvanshi</cp:lastModifiedBy>
  <cp:revision>1</cp:revision>
  <dcterms:created xsi:type="dcterms:W3CDTF">2026-06-29T18:31:54Z</dcterms:created>
  <dcterms:modified xsi:type="dcterms:W3CDTF">2026-06-29T18:31:54Z</dcterms:modified>
</cp:coreProperties>
</file>